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4" r:id="rId6"/>
    <p:sldId id="261" r:id="rId7"/>
    <p:sldId id="262" r:id="rId8"/>
    <p:sldId id="263" r:id="rId9"/>
    <p:sldId id="265" r:id="rId10"/>
    <p:sldId id="266" r:id="rId11"/>
    <p:sldId id="267" r:id="rId12"/>
    <p:sldId id="268" r:id="rId13"/>
    <p:sldId id="269" r:id="rId14"/>
    <p:sldId id="270" r:id="rId15"/>
    <p:sldId id="271" r:id="rId16"/>
    <p:sldId id="26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ithik" initials="N" lastIdx="1" clrIdx="0">
    <p:extLst>
      <p:ext uri="{19B8F6BF-5375-455C-9EA6-DF929625EA0E}">
        <p15:presenceInfo xmlns:p15="http://schemas.microsoft.com/office/powerpoint/2012/main" userId="42e839087e28ed47"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7" d="100"/>
          <a:sy n="87" d="100"/>
        </p:scale>
        <p:origin x="528"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8DC71F-BD77-44DD-81D5-A9BCA7A62DC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2A64A7F-0714-4D9B-A3D4-755CA1C3321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A94BB1A-2F74-4042-B256-3EE84E625C9B}"/>
              </a:ext>
            </a:extLst>
          </p:cNvPr>
          <p:cNvSpPr>
            <a:spLocks noGrp="1"/>
          </p:cNvSpPr>
          <p:nvPr>
            <p:ph type="dt" sz="half" idx="10"/>
          </p:nvPr>
        </p:nvSpPr>
        <p:spPr/>
        <p:txBody>
          <a:bodyPr/>
          <a:lstStyle/>
          <a:p>
            <a:fld id="{D738FCB3-D7FC-4137-842B-DF79F9BDB038}" type="datetimeFigureOut">
              <a:rPr lang="en-IN" smtClean="0"/>
              <a:t>29-05-2020</a:t>
            </a:fld>
            <a:endParaRPr lang="en-IN"/>
          </a:p>
        </p:txBody>
      </p:sp>
      <p:sp>
        <p:nvSpPr>
          <p:cNvPr id="5" name="Footer Placeholder 4">
            <a:extLst>
              <a:ext uri="{FF2B5EF4-FFF2-40B4-BE49-F238E27FC236}">
                <a16:creationId xmlns:a16="http://schemas.microsoft.com/office/drawing/2014/main" id="{5E20C7A5-1436-40C4-93AB-565656070CD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0979E08-0331-4539-981C-BCD5B7D7A79F}"/>
              </a:ext>
            </a:extLst>
          </p:cNvPr>
          <p:cNvSpPr>
            <a:spLocks noGrp="1"/>
          </p:cNvSpPr>
          <p:nvPr>
            <p:ph type="sldNum" sz="quarter" idx="12"/>
          </p:nvPr>
        </p:nvSpPr>
        <p:spPr/>
        <p:txBody>
          <a:bodyPr/>
          <a:lstStyle/>
          <a:p>
            <a:fld id="{7008E7F1-5442-4830-8D71-E8D509087E5C}" type="slidenum">
              <a:rPr lang="en-IN" smtClean="0"/>
              <a:t>‹#›</a:t>
            </a:fld>
            <a:endParaRPr lang="en-IN"/>
          </a:p>
        </p:txBody>
      </p:sp>
    </p:spTree>
    <p:extLst>
      <p:ext uri="{BB962C8B-B14F-4D97-AF65-F5344CB8AC3E}">
        <p14:creationId xmlns:p14="http://schemas.microsoft.com/office/powerpoint/2010/main" val="1962614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DD8F0-A3A6-4114-AC66-AEA80AD07F27}"/>
              </a:ext>
            </a:extLst>
          </p:cNvPr>
          <p:cNvSpPr>
            <a:spLocks noGrp="1"/>
          </p:cNvSpPr>
          <p:nvPr>
            <p:ph type="title"/>
          </p:nvPr>
        </p:nvSpPr>
        <p:spPr/>
        <p:txBody>
          <a:body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8DCC68EB-EB23-4810-89C2-7A1CE1F534E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2CFA6F8-D837-4BBC-8A11-465A3979BEE9}"/>
              </a:ext>
            </a:extLst>
          </p:cNvPr>
          <p:cNvSpPr>
            <a:spLocks noGrp="1"/>
          </p:cNvSpPr>
          <p:nvPr>
            <p:ph type="dt" sz="half" idx="10"/>
          </p:nvPr>
        </p:nvSpPr>
        <p:spPr/>
        <p:txBody>
          <a:bodyPr/>
          <a:lstStyle/>
          <a:p>
            <a:fld id="{D738FCB3-D7FC-4137-842B-DF79F9BDB038}" type="datetimeFigureOut">
              <a:rPr lang="en-IN" smtClean="0"/>
              <a:t>29-05-2020</a:t>
            </a:fld>
            <a:endParaRPr lang="en-IN"/>
          </a:p>
        </p:txBody>
      </p:sp>
      <p:sp>
        <p:nvSpPr>
          <p:cNvPr id="5" name="Footer Placeholder 4">
            <a:extLst>
              <a:ext uri="{FF2B5EF4-FFF2-40B4-BE49-F238E27FC236}">
                <a16:creationId xmlns:a16="http://schemas.microsoft.com/office/drawing/2014/main" id="{93880DDB-09BB-4573-907C-8BA5E6400A6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879C0D8-8383-4F43-BE2B-A235BA621B71}"/>
              </a:ext>
            </a:extLst>
          </p:cNvPr>
          <p:cNvSpPr>
            <a:spLocks noGrp="1"/>
          </p:cNvSpPr>
          <p:nvPr>
            <p:ph type="sldNum" sz="quarter" idx="12"/>
          </p:nvPr>
        </p:nvSpPr>
        <p:spPr/>
        <p:txBody>
          <a:bodyPr/>
          <a:lstStyle/>
          <a:p>
            <a:fld id="{7008E7F1-5442-4830-8D71-E8D509087E5C}" type="slidenum">
              <a:rPr lang="en-IN" smtClean="0"/>
              <a:t>‹#›</a:t>
            </a:fld>
            <a:endParaRPr lang="en-IN"/>
          </a:p>
        </p:txBody>
      </p:sp>
    </p:spTree>
    <p:extLst>
      <p:ext uri="{BB962C8B-B14F-4D97-AF65-F5344CB8AC3E}">
        <p14:creationId xmlns:p14="http://schemas.microsoft.com/office/powerpoint/2010/main" val="36811903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64632-75C9-4407-9930-D348F8ACB75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5CE8555-0EBC-4ECD-93E2-2CF371F861F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AD7877B-94E2-413F-814D-C7923F203C04}"/>
              </a:ext>
            </a:extLst>
          </p:cNvPr>
          <p:cNvSpPr>
            <a:spLocks noGrp="1"/>
          </p:cNvSpPr>
          <p:nvPr>
            <p:ph type="dt" sz="half" idx="10"/>
          </p:nvPr>
        </p:nvSpPr>
        <p:spPr/>
        <p:txBody>
          <a:bodyPr/>
          <a:lstStyle/>
          <a:p>
            <a:fld id="{D738FCB3-D7FC-4137-842B-DF79F9BDB038}" type="datetimeFigureOut">
              <a:rPr lang="en-IN" smtClean="0"/>
              <a:t>29-05-2020</a:t>
            </a:fld>
            <a:endParaRPr lang="en-IN"/>
          </a:p>
        </p:txBody>
      </p:sp>
      <p:sp>
        <p:nvSpPr>
          <p:cNvPr id="5" name="Footer Placeholder 4">
            <a:extLst>
              <a:ext uri="{FF2B5EF4-FFF2-40B4-BE49-F238E27FC236}">
                <a16:creationId xmlns:a16="http://schemas.microsoft.com/office/drawing/2014/main" id="{575E5A94-E637-4B33-843A-4F5EBF31AFB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8283661-83D4-4FF3-A803-4313F4A2B4B7}"/>
              </a:ext>
            </a:extLst>
          </p:cNvPr>
          <p:cNvSpPr>
            <a:spLocks noGrp="1"/>
          </p:cNvSpPr>
          <p:nvPr>
            <p:ph type="sldNum" sz="quarter" idx="12"/>
          </p:nvPr>
        </p:nvSpPr>
        <p:spPr/>
        <p:txBody>
          <a:bodyPr/>
          <a:lstStyle/>
          <a:p>
            <a:fld id="{7008E7F1-5442-4830-8D71-E8D509087E5C}" type="slidenum">
              <a:rPr lang="en-IN" smtClean="0"/>
              <a:t>‹#›</a:t>
            </a:fld>
            <a:endParaRPr lang="en-IN"/>
          </a:p>
        </p:txBody>
      </p:sp>
    </p:spTree>
    <p:extLst>
      <p:ext uri="{BB962C8B-B14F-4D97-AF65-F5344CB8AC3E}">
        <p14:creationId xmlns:p14="http://schemas.microsoft.com/office/powerpoint/2010/main" val="3834599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A7958-A8D6-4226-B1C0-CE1C3846536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59BE0C2-1506-404E-B215-EE5EF77C23B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61E3CB1-5FC9-47CD-A9F7-D5764776591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8C003D7-8056-463D-BE79-F630D1ACB033}"/>
              </a:ext>
            </a:extLst>
          </p:cNvPr>
          <p:cNvSpPr>
            <a:spLocks noGrp="1"/>
          </p:cNvSpPr>
          <p:nvPr>
            <p:ph type="dt" sz="half" idx="10"/>
          </p:nvPr>
        </p:nvSpPr>
        <p:spPr/>
        <p:txBody>
          <a:bodyPr/>
          <a:lstStyle/>
          <a:p>
            <a:fld id="{D738FCB3-D7FC-4137-842B-DF79F9BDB038}" type="datetimeFigureOut">
              <a:rPr lang="en-IN" smtClean="0"/>
              <a:t>29-05-2020</a:t>
            </a:fld>
            <a:endParaRPr lang="en-IN"/>
          </a:p>
        </p:txBody>
      </p:sp>
      <p:sp>
        <p:nvSpPr>
          <p:cNvPr id="6" name="Footer Placeholder 5">
            <a:extLst>
              <a:ext uri="{FF2B5EF4-FFF2-40B4-BE49-F238E27FC236}">
                <a16:creationId xmlns:a16="http://schemas.microsoft.com/office/drawing/2014/main" id="{725A9A14-7194-4074-B3CA-8400CF2F3E6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43C89E4-D328-4164-9212-C1F0F404EC35}"/>
              </a:ext>
            </a:extLst>
          </p:cNvPr>
          <p:cNvSpPr>
            <a:spLocks noGrp="1"/>
          </p:cNvSpPr>
          <p:nvPr>
            <p:ph type="sldNum" sz="quarter" idx="12"/>
          </p:nvPr>
        </p:nvSpPr>
        <p:spPr/>
        <p:txBody>
          <a:bodyPr/>
          <a:lstStyle/>
          <a:p>
            <a:fld id="{7008E7F1-5442-4830-8D71-E8D509087E5C}" type="slidenum">
              <a:rPr lang="en-IN" smtClean="0"/>
              <a:t>‹#›</a:t>
            </a:fld>
            <a:endParaRPr lang="en-IN"/>
          </a:p>
        </p:txBody>
      </p:sp>
    </p:spTree>
    <p:extLst>
      <p:ext uri="{BB962C8B-B14F-4D97-AF65-F5344CB8AC3E}">
        <p14:creationId xmlns:p14="http://schemas.microsoft.com/office/powerpoint/2010/main" val="38712842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16106-7240-4040-94EE-3EAEA2D0331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059B64E-D1B5-43AF-97AC-1A3536E2181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B44555D-32D6-4217-89DE-D6464219D68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6491B1A-4FF6-4E81-9484-9BDA1188816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99693D6-BD76-49FE-8D3E-58CDD5B8647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A3DFF3C-6768-4139-97B9-9C8610E0EEAA}"/>
              </a:ext>
            </a:extLst>
          </p:cNvPr>
          <p:cNvSpPr>
            <a:spLocks noGrp="1"/>
          </p:cNvSpPr>
          <p:nvPr>
            <p:ph type="dt" sz="half" idx="10"/>
          </p:nvPr>
        </p:nvSpPr>
        <p:spPr/>
        <p:txBody>
          <a:bodyPr/>
          <a:lstStyle/>
          <a:p>
            <a:fld id="{D738FCB3-D7FC-4137-842B-DF79F9BDB038}" type="datetimeFigureOut">
              <a:rPr lang="en-IN" smtClean="0"/>
              <a:t>29-05-2020</a:t>
            </a:fld>
            <a:endParaRPr lang="en-IN"/>
          </a:p>
        </p:txBody>
      </p:sp>
      <p:sp>
        <p:nvSpPr>
          <p:cNvPr id="8" name="Footer Placeholder 7">
            <a:extLst>
              <a:ext uri="{FF2B5EF4-FFF2-40B4-BE49-F238E27FC236}">
                <a16:creationId xmlns:a16="http://schemas.microsoft.com/office/drawing/2014/main" id="{3DA6C732-5EB5-458A-938E-B4D7AAB0C44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9A29108-17D9-4A7B-94FD-407255FE340B}"/>
              </a:ext>
            </a:extLst>
          </p:cNvPr>
          <p:cNvSpPr>
            <a:spLocks noGrp="1"/>
          </p:cNvSpPr>
          <p:nvPr>
            <p:ph type="sldNum" sz="quarter" idx="12"/>
          </p:nvPr>
        </p:nvSpPr>
        <p:spPr/>
        <p:txBody>
          <a:bodyPr/>
          <a:lstStyle/>
          <a:p>
            <a:fld id="{7008E7F1-5442-4830-8D71-E8D509087E5C}" type="slidenum">
              <a:rPr lang="en-IN" smtClean="0"/>
              <a:t>‹#›</a:t>
            </a:fld>
            <a:endParaRPr lang="en-IN"/>
          </a:p>
        </p:txBody>
      </p:sp>
    </p:spTree>
    <p:extLst>
      <p:ext uri="{BB962C8B-B14F-4D97-AF65-F5344CB8AC3E}">
        <p14:creationId xmlns:p14="http://schemas.microsoft.com/office/powerpoint/2010/main" val="35545046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DB259-1A23-45B3-AC86-29472FD9199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7A75D63-55A0-4AD9-8879-91342A41FF06}"/>
              </a:ext>
            </a:extLst>
          </p:cNvPr>
          <p:cNvSpPr>
            <a:spLocks noGrp="1"/>
          </p:cNvSpPr>
          <p:nvPr>
            <p:ph type="dt" sz="half" idx="10"/>
          </p:nvPr>
        </p:nvSpPr>
        <p:spPr/>
        <p:txBody>
          <a:bodyPr/>
          <a:lstStyle/>
          <a:p>
            <a:fld id="{D738FCB3-D7FC-4137-842B-DF79F9BDB038}" type="datetimeFigureOut">
              <a:rPr lang="en-IN" smtClean="0"/>
              <a:t>29-05-2020</a:t>
            </a:fld>
            <a:endParaRPr lang="en-IN"/>
          </a:p>
        </p:txBody>
      </p:sp>
      <p:sp>
        <p:nvSpPr>
          <p:cNvPr id="4" name="Footer Placeholder 3">
            <a:extLst>
              <a:ext uri="{FF2B5EF4-FFF2-40B4-BE49-F238E27FC236}">
                <a16:creationId xmlns:a16="http://schemas.microsoft.com/office/drawing/2014/main" id="{83FCD67C-9318-4C91-B50A-DA4E2B6727C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77421C3-F129-4910-A04C-840B968950C0}"/>
              </a:ext>
            </a:extLst>
          </p:cNvPr>
          <p:cNvSpPr>
            <a:spLocks noGrp="1"/>
          </p:cNvSpPr>
          <p:nvPr>
            <p:ph type="sldNum" sz="quarter" idx="12"/>
          </p:nvPr>
        </p:nvSpPr>
        <p:spPr/>
        <p:txBody>
          <a:bodyPr/>
          <a:lstStyle/>
          <a:p>
            <a:fld id="{7008E7F1-5442-4830-8D71-E8D509087E5C}" type="slidenum">
              <a:rPr lang="en-IN" smtClean="0"/>
              <a:t>‹#›</a:t>
            </a:fld>
            <a:endParaRPr lang="en-IN"/>
          </a:p>
        </p:txBody>
      </p:sp>
    </p:spTree>
    <p:extLst>
      <p:ext uri="{BB962C8B-B14F-4D97-AF65-F5344CB8AC3E}">
        <p14:creationId xmlns:p14="http://schemas.microsoft.com/office/powerpoint/2010/main" val="32311574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377CA69-2495-47AA-A44E-F3C0555666A6}"/>
              </a:ext>
            </a:extLst>
          </p:cNvPr>
          <p:cNvSpPr>
            <a:spLocks noGrp="1"/>
          </p:cNvSpPr>
          <p:nvPr>
            <p:ph type="dt" sz="half" idx="10"/>
          </p:nvPr>
        </p:nvSpPr>
        <p:spPr/>
        <p:txBody>
          <a:bodyPr/>
          <a:lstStyle/>
          <a:p>
            <a:fld id="{D738FCB3-D7FC-4137-842B-DF79F9BDB038}" type="datetimeFigureOut">
              <a:rPr lang="en-IN" smtClean="0"/>
              <a:t>29-05-2020</a:t>
            </a:fld>
            <a:endParaRPr lang="en-IN"/>
          </a:p>
        </p:txBody>
      </p:sp>
      <p:sp>
        <p:nvSpPr>
          <p:cNvPr id="3" name="Footer Placeholder 2">
            <a:extLst>
              <a:ext uri="{FF2B5EF4-FFF2-40B4-BE49-F238E27FC236}">
                <a16:creationId xmlns:a16="http://schemas.microsoft.com/office/drawing/2014/main" id="{A8796ACF-4C4E-4E0E-A421-F0DF51CB5FA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7A2DF8B-173B-4989-855F-C66BB59AF3A6}"/>
              </a:ext>
            </a:extLst>
          </p:cNvPr>
          <p:cNvSpPr>
            <a:spLocks noGrp="1"/>
          </p:cNvSpPr>
          <p:nvPr>
            <p:ph type="sldNum" sz="quarter" idx="12"/>
          </p:nvPr>
        </p:nvSpPr>
        <p:spPr/>
        <p:txBody>
          <a:bodyPr/>
          <a:lstStyle/>
          <a:p>
            <a:fld id="{7008E7F1-5442-4830-8D71-E8D509087E5C}" type="slidenum">
              <a:rPr lang="en-IN" smtClean="0"/>
              <a:t>‹#›</a:t>
            </a:fld>
            <a:endParaRPr lang="en-IN"/>
          </a:p>
        </p:txBody>
      </p:sp>
    </p:spTree>
    <p:extLst>
      <p:ext uri="{BB962C8B-B14F-4D97-AF65-F5344CB8AC3E}">
        <p14:creationId xmlns:p14="http://schemas.microsoft.com/office/powerpoint/2010/main" val="13298067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D8D89-FB15-4803-84EC-54387E6BC0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0481AE2-E9D4-49EA-BFC9-58771E10791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0B06F49-8061-4B7D-92F6-70D333CE48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AB7ADA-7386-4DE7-AB46-C367BE29AA44}"/>
              </a:ext>
            </a:extLst>
          </p:cNvPr>
          <p:cNvSpPr>
            <a:spLocks noGrp="1"/>
          </p:cNvSpPr>
          <p:nvPr>
            <p:ph type="dt" sz="half" idx="10"/>
          </p:nvPr>
        </p:nvSpPr>
        <p:spPr/>
        <p:txBody>
          <a:bodyPr/>
          <a:lstStyle/>
          <a:p>
            <a:fld id="{D738FCB3-D7FC-4137-842B-DF79F9BDB038}" type="datetimeFigureOut">
              <a:rPr lang="en-IN" smtClean="0"/>
              <a:t>29-05-2020</a:t>
            </a:fld>
            <a:endParaRPr lang="en-IN"/>
          </a:p>
        </p:txBody>
      </p:sp>
      <p:sp>
        <p:nvSpPr>
          <p:cNvPr id="6" name="Footer Placeholder 5">
            <a:extLst>
              <a:ext uri="{FF2B5EF4-FFF2-40B4-BE49-F238E27FC236}">
                <a16:creationId xmlns:a16="http://schemas.microsoft.com/office/drawing/2014/main" id="{506D91FB-2403-4D41-A9D1-3CB9915EF2B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F438D5C-457E-4635-9A99-8F4F1BB9BDFD}"/>
              </a:ext>
            </a:extLst>
          </p:cNvPr>
          <p:cNvSpPr>
            <a:spLocks noGrp="1"/>
          </p:cNvSpPr>
          <p:nvPr>
            <p:ph type="sldNum" sz="quarter" idx="12"/>
          </p:nvPr>
        </p:nvSpPr>
        <p:spPr/>
        <p:txBody>
          <a:bodyPr/>
          <a:lstStyle/>
          <a:p>
            <a:fld id="{7008E7F1-5442-4830-8D71-E8D509087E5C}" type="slidenum">
              <a:rPr lang="en-IN" smtClean="0"/>
              <a:t>‹#›</a:t>
            </a:fld>
            <a:endParaRPr lang="en-IN"/>
          </a:p>
        </p:txBody>
      </p:sp>
    </p:spTree>
    <p:extLst>
      <p:ext uri="{BB962C8B-B14F-4D97-AF65-F5344CB8AC3E}">
        <p14:creationId xmlns:p14="http://schemas.microsoft.com/office/powerpoint/2010/main" val="30750616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2892A-09A1-4414-B902-693D53B1DB3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9A745BA-53C5-450A-9A4E-BFC8AC15D1E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BDD94C9-7E5C-4876-88C2-D0CAA345B9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FCDB6DD-A7DB-4686-B4B8-CFDBF0057D5D}"/>
              </a:ext>
            </a:extLst>
          </p:cNvPr>
          <p:cNvSpPr>
            <a:spLocks noGrp="1"/>
          </p:cNvSpPr>
          <p:nvPr>
            <p:ph type="dt" sz="half" idx="10"/>
          </p:nvPr>
        </p:nvSpPr>
        <p:spPr/>
        <p:txBody>
          <a:bodyPr/>
          <a:lstStyle/>
          <a:p>
            <a:fld id="{D738FCB3-D7FC-4137-842B-DF79F9BDB038}" type="datetimeFigureOut">
              <a:rPr lang="en-IN" smtClean="0"/>
              <a:t>29-05-2020</a:t>
            </a:fld>
            <a:endParaRPr lang="en-IN"/>
          </a:p>
        </p:txBody>
      </p:sp>
      <p:sp>
        <p:nvSpPr>
          <p:cNvPr id="6" name="Footer Placeholder 5">
            <a:extLst>
              <a:ext uri="{FF2B5EF4-FFF2-40B4-BE49-F238E27FC236}">
                <a16:creationId xmlns:a16="http://schemas.microsoft.com/office/drawing/2014/main" id="{0A273240-4F48-46C7-92C6-0A894CEDE25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1578ABD-C0CB-43B0-8FDA-BB487551CCAB}"/>
              </a:ext>
            </a:extLst>
          </p:cNvPr>
          <p:cNvSpPr>
            <a:spLocks noGrp="1"/>
          </p:cNvSpPr>
          <p:nvPr>
            <p:ph type="sldNum" sz="quarter" idx="12"/>
          </p:nvPr>
        </p:nvSpPr>
        <p:spPr/>
        <p:txBody>
          <a:bodyPr/>
          <a:lstStyle/>
          <a:p>
            <a:fld id="{7008E7F1-5442-4830-8D71-E8D509087E5C}" type="slidenum">
              <a:rPr lang="en-IN" smtClean="0"/>
              <a:t>‹#›</a:t>
            </a:fld>
            <a:endParaRPr lang="en-IN"/>
          </a:p>
        </p:txBody>
      </p:sp>
    </p:spTree>
    <p:extLst>
      <p:ext uri="{BB962C8B-B14F-4D97-AF65-F5344CB8AC3E}">
        <p14:creationId xmlns:p14="http://schemas.microsoft.com/office/powerpoint/2010/main" val="4375072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100BF-7B34-4D5E-8BD0-5F61F2C4F9C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872F95F-6F41-480C-956F-8069BBFEADF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9D227C3-0E28-4A1E-A772-A43D693318B9}"/>
              </a:ext>
            </a:extLst>
          </p:cNvPr>
          <p:cNvSpPr>
            <a:spLocks noGrp="1"/>
          </p:cNvSpPr>
          <p:nvPr>
            <p:ph type="dt" sz="half" idx="10"/>
          </p:nvPr>
        </p:nvSpPr>
        <p:spPr/>
        <p:txBody>
          <a:bodyPr/>
          <a:lstStyle/>
          <a:p>
            <a:fld id="{D738FCB3-D7FC-4137-842B-DF79F9BDB038}" type="datetimeFigureOut">
              <a:rPr lang="en-IN" smtClean="0"/>
              <a:t>29-05-2020</a:t>
            </a:fld>
            <a:endParaRPr lang="en-IN"/>
          </a:p>
        </p:txBody>
      </p:sp>
      <p:sp>
        <p:nvSpPr>
          <p:cNvPr id="5" name="Footer Placeholder 4">
            <a:extLst>
              <a:ext uri="{FF2B5EF4-FFF2-40B4-BE49-F238E27FC236}">
                <a16:creationId xmlns:a16="http://schemas.microsoft.com/office/drawing/2014/main" id="{CDBE4870-F9E2-4AD1-8536-6D44EBCF986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5FEEB42-85C1-4553-817E-818D33C137F0}"/>
              </a:ext>
            </a:extLst>
          </p:cNvPr>
          <p:cNvSpPr>
            <a:spLocks noGrp="1"/>
          </p:cNvSpPr>
          <p:nvPr>
            <p:ph type="sldNum" sz="quarter" idx="12"/>
          </p:nvPr>
        </p:nvSpPr>
        <p:spPr/>
        <p:txBody>
          <a:bodyPr/>
          <a:lstStyle/>
          <a:p>
            <a:fld id="{7008E7F1-5442-4830-8D71-E8D509087E5C}" type="slidenum">
              <a:rPr lang="en-IN" smtClean="0"/>
              <a:t>‹#›</a:t>
            </a:fld>
            <a:endParaRPr lang="en-IN"/>
          </a:p>
        </p:txBody>
      </p:sp>
    </p:spTree>
    <p:extLst>
      <p:ext uri="{BB962C8B-B14F-4D97-AF65-F5344CB8AC3E}">
        <p14:creationId xmlns:p14="http://schemas.microsoft.com/office/powerpoint/2010/main" val="32611930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3584F2A-F9D0-4F36-92BF-BFDD1BD24BA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FBB3893-0467-40FD-BAC6-03A5C68C579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F644D3F-56CF-4504-906B-58C33FBD84E8}"/>
              </a:ext>
            </a:extLst>
          </p:cNvPr>
          <p:cNvSpPr>
            <a:spLocks noGrp="1"/>
          </p:cNvSpPr>
          <p:nvPr>
            <p:ph type="dt" sz="half" idx="10"/>
          </p:nvPr>
        </p:nvSpPr>
        <p:spPr/>
        <p:txBody>
          <a:bodyPr/>
          <a:lstStyle/>
          <a:p>
            <a:fld id="{D738FCB3-D7FC-4137-842B-DF79F9BDB038}" type="datetimeFigureOut">
              <a:rPr lang="en-IN" smtClean="0"/>
              <a:t>29-05-2020</a:t>
            </a:fld>
            <a:endParaRPr lang="en-IN"/>
          </a:p>
        </p:txBody>
      </p:sp>
      <p:sp>
        <p:nvSpPr>
          <p:cNvPr id="5" name="Footer Placeholder 4">
            <a:extLst>
              <a:ext uri="{FF2B5EF4-FFF2-40B4-BE49-F238E27FC236}">
                <a16:creationId xmlns:a16="http://schemas.microsoft.com/office/drawing/2014/main" id="{7C3B041E-2173-44AE-9566-1854D30B90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40E7148-9D6E-4831-9F09-032537936246}"/>
              </a:ext>
            </a:extLst>
          </p:cNvPr>
          <p:cNvSpPr>
            <a:spLocks noGrp="1"/>
          </p:cNvSpPr>
          <p:nvPr>
            <p:ph type="sldNum" sz="quarter" idx="12"/>
          </p:nvPr>
        </p:nvSpPr>
        <p:spPr/>
        <p:txBody>
          <a:bodyPr/>
          <a:lstStyle/>
          <a:p>
            <a:fld id="{7008E7F1-5442-4830-8D71-E8D509087E5C}" type="slidenum">
              <a:rPr lang="en-IN" smtClean="0"/>
              <a:t>‹#›</a:t>
            </a:fld>
            <a:endParaRPr lang="en-IN"/>
          </a:p>
        </p:txBody>
      </p:sp>
    </p:spTree>
    <p:extLst>
      <p:ext uri="{BB962C8B-B14F-4D97-AF65-F5344CB8AC3E}">
        <p14:creationId xmlns:p14="http://schemas.microsoft.com/office/powerpoint/2010/main" val="3129803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EFE914A-4BED-4D84-906A-3E1CDB259C1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555069B-C423-4341-AFB0-E317DF8CDB7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16F8827-10C3-43D3-A031-B071E65384F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738FCB3-D7FC-4137-842B-DF79F9BDB038}" type="datetimeFigureOut">
              <a:rPr lang="en-IN" smtClean="0"/>
              <a:t>29-05-2020</a:t>
            </a:fld>
            <a:endParaRPr lang="en-IN"/>
          </a:p>
        </p:txBody>
      </p:sp>
      <p:sp>
        <p:nvSpPr>
          <p:cNvPr id="5" name="Footer Placeholder 4">
            <a:extLst>
              <a:ext uri="{FF2B5EF4-FFF2-40B4-BE49-F238E27FC236}">
                <a16:creationId xmlns:a16="http://schemas.microsoft.com/office/drawing/2014/main" id="{246C53F1-0E82-46CB-9145-841B2CC8017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DBC07AE-3329-46F9-806B-92E910CA0C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008E7F1-5442-4830-8D71-E8D509087E5C}" type="slidenum">
              <a:rPr lang="en-IN" smtClean="0"/>
              <a:t>‹#›</a:t>
            </a:fld>
            <a:endParaRPr lang="en-IN"/>
          </a:p>
        </p:txBody>
      </p:sp>
    </p:spTree>
    <p:extLst>
      <p:ext uri="{BB962C8B-B14F-4D97-AF65-F5344CB8AC3E}">
        <p14:creationId xmlns:p14="http://schemas.microsoft.com/office/powerpoint/2010/main" val="14964044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9B04A-D987-404B-B6E1-AAC35054D10A}"/>
              </a:ext>
            </a:extLst>
          </p:cNvPr>
          <p:cNvSpPr>
            <a:spLocks noGrp="1"/>
          </p:cNvSpPr>
          <p:nvPr>
            <p:ph type="ctrTitle"/>
          </p:nvPr>
        </p:nvSpPr>
        <p:spPr/>
        <p:txBody>
          <a:bodyPr>
            <a:normAutofit/>
          </a:bodyPr>
          <a:lstStyle/>
          <a:p>
            <a:r>
              <a:rPr lang="en-IN" sz="3200" dirty="0">
                <a:latin typeface="Times New Roman" panose="02020603050405020304" pitchFamily="18" charset="0"/>
                <a:cs typeface="Times New Roman" panose="02020603050405020304" pitchFamily="18" charset="0"/>
              </a:rPr>
              <a:t>IOT BASED ANTI-HUNT ALARM SYSTEM FOR TREES IN FOREST USING NODEMCU</a:t>
            </a:r>
          </a:p>
        </p:txBody>
      </p:sp>
      <p:sp>
        <p:nvSpPr>
          <p:cNvPr id="3" name="Subtitle 2">
            <a:extLst>
              <a:ext uri="{FF2B5EF4-FFF2-40B4-BE49-F238E27FC236}">
                <a16:creationId xmlns:a16="http://schemas.microsoft.com/office/drawing/2014/main" id="{C8BA3A3B-2A90-49DE-8595-819D9843DE6C}"/>
              </a:ext>
            </a:extLst>
          </p:cNvPr>
          <p:cNvSpPr>
            <a:spLocks noGrp="1"/>
          </p:cNvSpPr>
          <p:nvPr>
            <p:ph type="subTitle" idx="1"/>
          </p:nvPr>
        </p:nvSpPr>
        <p:spPr>
          <a:xfrm>
            <a:off x="6178061" y="4175916"/>
            <a:ext cx="5838092" cy="2387602"/>
          </a:xfrm>
        </p:spPr>
        <p:txBody>
          <a:bodyPr>
            <a:normAutofit/>
          </a:bodyPr>
          <a:lstStyle/>
          <a:p>
            <a:pPr algn="r"/>
            <a:r>
              <a:rPr lang="en-IN" sz="1800" b="1" dirty="0">
                <a:latin typeface="Times New Roman" panose="02020603050405020304" pitchFamily="18" charset="0"/>
                <a:cs typeface="Times New Roman" panose="02020603050405020304" pitchFamily="18" charset="0"/>
              </a:rPr>
              <a:t>MENTOR</a:t>
            </a:r>
            <a:endParaRPr lang="en-IN" sz="1800" dirty="0">
              <a:latin typeface="Times New Roman" panose="02020603050405020304" pitchFamily="18" charset="0"/>
              <a:cs typeface="Times New Roman" panose="02020603050405020304" pitchFamily="18" charset="0"/>
            </a:endParaRPr>
          </a:p>
          <a:p>
            <a:pPr algn="r"/>
            <a:r>
              <a:rPr lang="en-IN" sz="1800" dirty="0">
                <a:latin typeface="Times New Roman" panose="02020603050405020304" pitchFamily="18" charset="0"/>
                <a:cs typeface="Times New Roman" panose="02020603050405020304" pitchFamily="18" charset="0"/>
              </a:rPr>
              <a:t>Mr. T. Raj Kumar</a:t>
            </a:r>
          </a:p>
          <a:p>
            <a:pPr algn="r"/>
            <a:r>
              <a:rPr lang="en-IN" sz="1800" dirty="0">
                <a:latin typeface="Times New Roman" panose="02020603050405020304" pitchFamily="18" charset="0"/>
                <a:cs typeface="Times New Roman" panose="02020603050405020304" pitchFamily="18" charset="0"/>
              </a:rPr>
              <a:t>Assistant Professor</a:t>
            </a:r>
          </a:p>
          <a:p>
            <a:pPr algn="r"/>
            <a:r>
              <a:rPr lang="en-IN" sz="1800" dirty="0">
                <a:latin typeface="Times New Roman" panose="02020603050405020304" pitchFamily="18" charset="0"/>
                <a:cs typeface="Times New Roman" panose="02020603050405020304" pitchFamily="18" charset="0"/>
              </a:rPr>
              <a:t>ECE Department</a:t>
            </a:r>
          </a:p>
          <a:p>
            <a:pPr algn="r"/>
            <a:r>
              <a:rPr lang="en-IN" sz="1800" dirty="0">
                <a:latin typeface="Times New Roman" panose="02020603050405020304" pitchFamily="18" charset="0"/>
                <a:cs typeface="Times New Roman" panose="02020603050405020304" pitchFamily="18" charset="0"/>
              </a:rPr>
              <a:t>SRM IST: Ramapuram campus</a:t>
            </a:r>
          </a:p>
        </p:txBody>
      </p:sp>
      <p:sp>
        <p:nvSpPr>
          <p:cNvPr id="4" name="Subtitle 2">
            <a:extLst>
              <a:ext uri="{FF2B5EF4-FFF2-40B4-BE49-F238E27FC236}">
                <a16:creationId xmlns:a16="http://schemas.microsoft.com/office/drawing/2014/main" id="{7A0EFDDE-4AFF-47DC-94AE-1DFC6FD975B3}"/>
              </a:ext>
            </a:extLst>
          </p:cNvPr>
          <p:cNvSpPr txBox="1">
            <a:spLocks/>
          </p:cNvSpPr>
          <p:nvPr/>
        </p:nvSpPr>
        <p:spPr>
          <a:xfrm>
            <a:off x="339969" y="4175916"/>
            <a:ext cx="5838092" cy="238760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IN" sz="1800" b="1" dirty="0">
                <a:latin typeface="Times New Roman" panose="02020603050405020304" pitchFamily="18" charset="0"/>
                <a:cs typeface="Times New Roman" panose="02020603050405020304" pitchFamily="18" charset="0"/>
              </a:rPr>
              <a:t>BATCH MEMBERS</a:t>
            </a:r>
          </a:p>
          <a:p>
            <a:pPr algn="l"/>
            <a:r>
              <a:rPr lang="en-IN" sz="1800" dirty="0">
                <a:latin typeface="Times New Roman" panose="02020603050405020304" pitchFamily="18" charset="0"/>
                <a:cs typeface="Times New Roman" panose="02020603050405020304" pitchFamily="18" charset="0"/>
              </a:rPr>
              <a:t>Nithik Nishanth S        : RA1611004020076</a:t>
            </a:r>
          </a:p>
          <a:p>
            <a:pPr algn="l"/>
            <a:r>
              <a:rPr lang="en-IN" sz="1800" dirty="0">
                <a:latin typeface="Times New Roman" panose="02020603050405020304" pitchFamily="18" charset="0"/>
                <a:cs typeface="Times New Roman" panose="02020603050405020304" pitchFamily="18" charset="0"/>
              </a:rPr>
              <a:t>Manoj Samuel             : RA16110040200119</a:t>
            </a:r>
          </a:p>
          <a:p>
            <a:pPr algn="l"/>
            <a:r>
              <a:rPr lang="en-IN" sz="1800" dirty="0" err="1">
                <a:latin typeface="Times New Roman" panose="02020603050405020304" pitchFamily="18" charset="0"/>
                <a:cs typeface="Times New Roman" panose="02020603050405020304" pitchFamily="18" charset="0"/>
              </a:rPr>
              <a:t>Modilal</a:t>
            </a:r>
            <a:r>
              <a:rPr lang="en-IN" sz="1800" dirty="0">
                <a:latin typeface="Times New Roman" panose="02020603050405020304" pitchFamily="18" charset="0"/>
                <a:cs typeface="Times New Roman" panose="02020603050405020304" pitchFamily="18" charset="0"/>
              </a:rPr>
              <a:t> Saravanan      : RA1611004020099</a:t>
            </a:r>
          </a:p>
          <a:p>
            <a:pPr algn="l"/>
            <a:r>
              <a:rPr lang="en-IN" sz="1800" dirty="0" err="1">
                <a:latin typeface="Times New Roman" panose="02020603050405020304" pitchFamily="18" charset="0"/>
                <a:cs typeface="Times New Roman" panose="02020603050405020304" pitchFamily="18" charset="0"/>
              </a:rPr>
              <a:t>Abeshek</a:t>
            </a:r>
            <a:r>
              <a:rPr lang="en-IN" sz="1800" dirty="0">
                <a:latin typeface="Times New Roman" panose="02020603050405020304" pitchFamily="18" charset="0"/>
                <a:cs typeface="Times New Roman" panose="02020603050405020304" pitchFamily="18" charset="0"/>
              </a:rPr>
              <a:t> P A                : RA1611004020094</a:t>
            </a:r>
          </a:p>
        </p:txBody>
      </p:sp>
    </p:spTree>
    <p:extLst>
      <p:ext uri="{BB962C8B-B14F-4D97-AF65-F5344CB8AC3E}">
        <p14:creationId xmlns:p14="http://schemas.microsoft.com/office/powerpoint/2010/main" val="26769724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3E805-8AE7-4C60-8D03-DFD81160F38A}"/>
              </a:ext>
            </a:extLst>
          </p:cNvPr>
          <p:cNvSpPr>
            <a:spLocks noGrp="1"/>
          </p:cNvSpPr>
          <p:nvPr>
            <p:ph type="title"/>
          </p:nvPr>
        </p:nvSpPr>
        <p:spPr>
          <a:xfrm>
            <a:off x="838200" y="365126"/>
            <a:ext cx="10515600" cy="519778"/>
          </a:xfrm>
        </p:spPr>
        <p:txBody>
          <a:bodyPr>
            <a:normAutofit/>
          </a:bodyPr>
          <a:lstStyle/>
          <a:p>
            <a:r>
              <a:rPr lang="en-IN" sz="2800" b="1" dirty="0">
                <a:latin typeface="Times New Roman" panose="02020603050405020304" pitchFamily="18" charset="0"/>
                <a:cs typeface="Times New Roman" panose="02020603050405020304" pitchFamily="18" charset="0"/>
              </a:rPr>
              <a:t>Overview of Contents</a:t>
            </a:r>
          </a:p>
        </p:txBody>
      </p:sp>
      <p:sp>
        <p:nvSpPr>
          <p:cNvPr id="3" name="Content Placeholder 2">
            <a:extLst>
              <a:ext uri="{FF2B5EF4-FFF2-40B4-BE49-F238E27FC236}">
                <a16:creationId xmlns:a16="http://schemas.microsoft.com/office/drawing/2014/main" id="{46296CC7-20AE-4B3A-AAEC-3A6E886617D3}"/>
              </a:ext>
            </a:extLst>
          </p:cNvPr>
          <p:cNvSpPr>
            <a:spLocks noGrp="1"/>
          </p:cNvSpPr>
          <p:nvPr>
            <p:ph idx="1"/>
          </p:nvPr>
        </p:nvSpPr>
        <p:spPr>
          <a:xfrm>
            <a:off x="838200" y="1061884"/>
            <a:ext cx="10515600" cy="5115079"/>
          </a:xfrm>
        </p:spPr>
        <p:txBody>
          <a:bodyPr>
            <a:normAutofit fontScale="70000" lnSpcReduction="20000"/>
          </a:bodyPr>
          <a:lstStyle/>
          <a:p>
            <a:r>
              <a:rPr lang="en-IN" dirty="0"/>
              <a:t>Objective</a:t>
            </a:r>
          </a:p>
          <a:p>
            <a:r>
              <a:rPr lang="en-IN" dirty="0"/>
              <a:t>Abstract</a:t>
            </a:r>
          </a:p>
          <a:p>
            <a:r>
              <a:rPr lang="en-IN" dirty="0"/>
              <a:t>Literature Survey</a:t>
            </a:r>
          </a:p>
          <a:p>
            <a:r>
              <a:rPr lang="en-IN" dirty="0"/>
              <a:t>Block Diagram with explanation</a:t>
            </a:r>
          </a:p>
          <a:p>
            <a:r>
              <a:rPr lang="en-IN" dirty="0"/>
              <a:t>Originality , Innovation</a:t>
            </a:r>
          </a:p>
          <a:p>
            <a:r>
              <a:rPr lang="en-IN" dirty="0"/>
              <a:t>Mathematical / Software tools</a:t>
            </a:r>
          </a:p>
          <a:p>
            <a:r>
              <a:rPr lang="en-IN" dirty="0"/>
              <a:t>Result</a:t>
            </a:r>
          </a:p>
          <a:p>
            <a:r>
              <a:rPr lang="en-IN" dirty="0"/>
              <a:t>Advantages</a:t>
            </a:r>
          </a:p>
          <a:p>
            <a:r>
              <a:rPr lang="en-IN" dirty="0"/>
              <a:t>Applications</a:t>
            </a:r>
          </a:p>
          <a:p>
            <a:r>
              <a:rPr lang="en-IN" dirty="0"/>
              <a:t>Percentage as Original</a:t>
            </a:r>
          </a:p>
          <a:p>
            <a:r>
              <a:rPr lang="en-IN" dirty="0"/>
              <a:t>Lockdown changes</a:t>
            </a:r>
          </a:p>
          <a:p>
            <a:r>
              <a:rPr lang="en-IN" dirty="0"/>
              <a:t>Contribution of individuals</a:t>
            </a:r>
          </a:p>
          <a:p>
            <a:r>
              <a:rPr lang="en-IN" dirty="0"/>
              <a:t>Conclusion and future scope</a:t>
            </a:r>
          </a:p>
          <a:p>
            <a:r>
              <a:rPr lang="en-IN" dirty="0"/>
              <a:t>Reference</a:t>
            </a:r>
          </a:p>
          <a:p>
            <a:r>
              <a:rPr lang="en-IN" dirty="0"/>
              <a:t>publications</a:t>
            </a:r>
          </a:p>
        </p:txBody>
      </p:sp>
    </p:spTree>
    <p:extLst>
      <p:ext uri="{BB962C8B-B14F-4D97-AF65-F5344CB8AC3E}">
        <p14:creationId xmlns:p14="http://schemas.microsoft.com/office/powerpoint/2010/main" val="26589052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6DB84-3A35-4461-8182-C7948058086F}"/>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Objective</a:t>
            </a:r>
          </a:p>
        </p:txBody>
      </p:sp>
      <p:sp>
        <p:nvSpPr>
          <p:cNvPr id="3" name="Content Placeholder 2">
            <a:extLst>
              <a:ext uri="{FF2B5EF4-FFF2-40B4-BE49-F238E27FC236}">
                <a16:creationId xmlns:a16="http://schemas.microsoft.com/office/drawing/2014/main" id="{AE5F281A-7093-41D3-B226-1A3B853092F6}"/>
              </a:ext>
            </a:extLst>
          </p:cNvPr>
          <p:cNvSpPr>
            <a:spLocks noGrp="1"/>
          </p:cNvSpPr>
          <p:nvPr>
            <p:ph idx="1"/>
          </p:nvPr>
        </p:nvSpPr>
        <p:spPr>
          <a:xfrm>
            <a:off x="838200" y="1825625"/>
            <a:ext cx="10515600" cy="2658452"/>
          </a:xfrm>
        </p:spPr>
        <p:txBody>
          <a:bodyPr/>
          <a:lstStyle/>
          <a:p>
            <a:pPr marL="0" indent="0" algn="just">
              <a:buNone/>
            </a:pPr>
            <a:r>
              <a:rPr lang="en-IN" dirty="0">
                <a:latin typeface="Times New Roman" panose="02020603050405020304" pitchFamily="18" charset="0"/>
                <a:cs typeface="Times New Roman" panose="02020603050405020304" pitchFamily="18" charset="0"/>
              </a:rPr>
              <a:t>In the Current Scenario there are numerous occurrences regarding the pirating of trees like sandal, sag wan and many more . To limit their sneaking and to spare the woodlands some preventive measure are to be taken . The Project aims to limit this unwanted sneaking by designing a system that uses sensors and IOT platform to stop poaching of trees in an cost effective manner</a:t>
            </a:r>
          </a:p>
        </p:txBody>
      </p:sp>
    </p:spTree>
    <p:extLst>
      <p:ext uri="{BB962C8B-B14F-4D97-AF65-F5344CB8AC3E}">
        <p14:creationId xmlns:p14="http://schemas.microsoft.com/office/powerpoint/2010/main" val="41030702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35AAD-AA9E-4FC3-800C-D1F675243627}"/>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Abstract</a:t>
            </a:r>
          </a:p>
        </p:txBody>
      </p:sp>
      <p:sp>
        <p:nvSpPr>
          <p:cNvPr id="3" name="Content Placeholder 2">
            <a:extLst>
              <a:ext uri="{FF2B5EF4-FFF2-40B4-BE49-F238E27FC236}">
                <a16:creationId xmlns:a16="http://schemas.microsoft.com/office/drawing/2014/main" id="{694D29D1-B5DF-44D3-9F87-BC737BDC3F22}"/>
              </a:ext>
            </a:extLst>
          </p:cNvPr>
          <p:cNvSpPr>
            <a:spLocks noGrp="1"/>
          </p:cNvSpPr>
          <p:nvPr>
            <p:ph idx="1"/>
          </p:nvPr>
        </p:nvSpPr>
        <p:spPr>
          <a:xfrm>
            <a:off x="838200" y="1825625"/>
            <a:ext cx="10515600" cy="3634398"/>
          </a:xfrm>
        </p:spPr>
        <p:txBody>
          <a:bodyPr/>
          <a:lstStyle/>
          <a:p>
            <a:pPr marL="0" indent="0" algn="just">
              <a:buNone/>
            </a:pPr>
            <a:r>
              <a:rPr lang="en-IN" dirty="0"/>
              <a:t>By incorporating </a:t>
            </a:r>
            <a:r>
              <a:rPr lang="en-IN" dirty="0">
                <a:latin typeface="Times New Roman" panose="02020603050405020304" pitchFamily="18" charset="0"/>
                <a:cs typeface="Times New Roman" panose="02020603050405020304" pitchFamily="18" charset="0"/>
              </a:rPr>
              <a:t>3 sensors to acknowledge the tendency of the trees after cut, Temperature sensor to analyse timberland Fires and a sound sensor to find out about illegal access to the trees. The Collected data is placed within the cloud server over the Wi-Fi module. This System uses NodeMcu as its central system for processing and data transmission </a:t>
            </a:r>
          </a:p>
          <a:p>
            <a:pPr marL="0" indent="0" algn="just">
              <a:buNone/>
            </a:pPr>
            <a:r>
              <a:rPr lang="en-IN" dirty="0">
                <a:latin typeface="Times New Roman" panose="02020603050405020304" pitchFamily="18" charset="0"/>
                <a:cs typeface="Times New Roman" panose="02020603050405020304" pitchFamily="18" charset="0"/>
              </a:rPr>
              <a:t>Multiple sensors are also used to detect the humidity, atmospheric temperature that can be used to determine events such as forest fires before they actually happen hence preventing catastrophise as such</a:t>
            </a:r>
            <a:endParaRPr lang="en-IN" dirty="0"/>
          </a:p>
        </p:txBody>
      </p:sp>
    </p:spTree>
    <p:extLst>
      <p:ext uri="{BB962C8B-B14F-4D97-AF65-F5344CB8AC3E}">
        <p14:creationId xmlns:p14="http://schemas.microsoft.com/office/powerpoint/2010/main" val="31435040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B27FC-75A6-4212-8500-9F40BBC9BBA2}"/>
              </a:ext>
            </a:extLst>
          </p:cNvPr>
          <p:cNvSpPr>
            <a:spLocks noGrp="1"/>
          </p:cNvSpPr>
          <p:nvPr>
            <p:ph type="title"/>
          </p:nvPr>
        </p:nvSpPr>
        <p:spPr/>
        <p:txBody>
          <a:bodyPr/>
          <a:lstStyle/>
          <a:p>
            <a:r>
              <a:rPr lang="en-IN" dirty="0"/>
              <a:t>Literature Review</a:t>
            </a:r>
          </a:p>
        </p:txBody>
      </p:sp>
      <p:sp>
        <p:nvSpPr>
          <p:cNvPr id="3" name="Content Placeholder 2">
            <a:extLst>
              <a:ext uri="{FF2B5EF4-FFF2-40B4-BE49-F238E27FC236}">
                <a16:creationId xmlns:a16="http://schemas.microsoft.com/office/drawing/2014/main" id="{FCF49D6C-AE78-4F3D-9EA5-83A71E4C4A0F}"/>
              </a:ext>
            </a:extLst>
          </p:cNvPr>
          <p:cNvSpPr>
            <a:spLocks noGrp="1"/>
          </p:cNvSpPr>
          <p:nvPr>
            <p:ph idx="1"/>
          </p:nvPr>
        </p:nvSpPr>
        <p:spPr>
          <a:xfrm>
            <a:off x="838200" y="1825625"/>
            <a:ext cx="10515600" cy="4223483"/>
          </a:xfrm>
        </p:spPr>
        <p:txBody>
          <a:bodyPr>
            <a:normAutofit fontScale="70000" lnSpcReduction="20000"/>
          </a:bodyPr>
          <a:lstStyle/>
          <a:p>
            <a:pPr marL="0" indent="0" algn="just">
              <a:buNone/>
            </a:pPr>
            <a:r>
              <a:rPr lang="en-IN" b="1" dirty="0"/>
              <a:t>Existing System:</a:t>
            </a:r>
          </a:p>
          <a:p>
            <a:pPr marL="0" indent="0" algn="just">
              <a:buNone/>
            </a:pPr>
            <a:endParaRPr lang="en-IN" b="1" dirty="0"/>
          </a:p>
          <a:p>
            <a:pPr marL="0" indent="0" algn="just">
              <a:buNone/>
            </a:pPr>
            <a:r>
              <a:rPr lang="en-IN" dirty="0"/>
              <a:t>The existing system is primitive in the aspect that there is no actual method for preventing extensive deforestation .Even touch CCTV cameras are placed by the forest officials, controlling them is a tedious task , also immediate alerting is not possible with security cameras</a:t>
            </a:r>
          </a:p>
          <a:p>
            <a:pPr marL="0" indent="0" algn="just">
              <a:buNone/>
            </a:pPr>
            <a:endParaRPr lang="en-IN" dirty="0"/>
          </a:p>
          <a:p>
            <a:pPr marL="0" indent="0" algn="just">
              <a:buNone/>
            </a:pPr>
            <a:r>
              <a:rPr lang="en-IN" b="1" dirty="0"/>
              <a:t>Proposed System:</a:t>
            </a:r>
          </a:p>
          <a:p>
            <a:pPr marL="0" indent="0" algn="just">
              <a:buNone/>
            </a:pPr>
            <a:endParaRPr lang="en-IN" b="1" dirty="0"/>
          </a:p>
          <a:p>
            <a:pPr marL="0" indent="0" algn="just">
              <a:buNone/>
            </a:pPr>
            <a:r>
              <a:rPr lang="en-IN" dirty="0"/>
              <a:t>The proposed system has the following features</a:t>
            </a:r>
          </a:p>
          <a:p>
            <a:pPr marL="0" indent="0" algn="just">
              <a:buNone/>
            </a:pPr>
            <a:r>
              <a:rPr lang="en-IN" dirty="0"/>
              <a:t>	use of IOT and NodeMcu system for monitoring and alerting the data is saved in cloud for future reference, using Tilt sensor to detect Tree Fall and Sound sensor for detection of illegal human activities in the vicinity</a:t>
            </a:r>
          </a:p>
          <a:p>
            <a:pPr marL="457200" lvl="1" indent="0" algn="just">
              <a:buNone/>
            </a:pPr>
            <a:endParaRPr lang="en-IN" dirty="0"/>
          </a:p>
          <a:p>
            <a:pPr marL="457200" lvl="1" indent="0" algn="just">
              <a:buNone/>
            </a:pPr>
            <a:r>
              <a:rPr lang="en-IN" dirty="0"/>
              <a:t>										</a:t>
            </a:r>
          </a:p>
          <a:p>
            <a:pPr lvl="1"/>
            <a:endParaRPr lang="en-IN" dirty="0"/>
          </a:p>
          <a:p>
            <a:pPr lvl="1"/>
            <a:endParaRPr lang="en-IN" dirty="0"/>
          </a:p>
          <a:p>
            <a:pPr marL="457200" lvl="1" indent="0">
              <a:buNone/>
            </a:pPr>
            <a:endParaRPr lang="en-IN" dirty="0"/>
          </a:p>
        </p:txBody>
      </p:sp>
    </p:spTree>
    <p:extLst>
      <p:ext uri="{BB962C8B-B14F-4D97-AF65-F5344CB8AC3E}">
        <p14:creationId xmlns:p14="http://schemas.microsoft.com/office/powerpoint/2010/main" val="2629945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FF6CCD-3ECB-43FF-8369-3B20D96135BB}"/>
              </a:ext>
            </a:extLst>
          </p:cNvPr>
          <p:cNvSpPr>
            <a:spLocks noGrp="1"/>
          </p:cNvSpPr>
          <p:nvPr>
            <p:ph type="title"/>
          </p:nvPr>
        </p:nvSpPr>
        <p:spPr/>
        <p:txBody>
          <a:bodyPr/>
          <a:lstStyle/>
          <a:p>
            <a:r>
              <a:rPr lang="en-IN" dirty="0"/>
              <a:t>Block Diagram </a:t>
            </a:r>
          </a:p>
        </p:txBody>
      </p:sp>
      <p:pic>
        <p:nvPicPr>
          <p:cNvPr id="19" name="Content Placeholder 18">
            <a:extLst>
              <a:ext uri="{FF2B5EF4-FFF2-40B4-BE49-F238E27FC236}">
                <a16:creationId xmlns:a16="http://schemas.microsoft.com/office/drawing/2014/main" id="{DC1033C7-47B3-4E0D-A523-BB47B4B9027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51897" y="1626578"/>
            <a:ext cx="6519927" cy="3077294"/>
          </a:xfrm>
        </p:spPr>
      </p:pic>
      <p:sp>
        <p:nvSpPr>
          <p:cNvPr id="20" name="TextBox 19">
            <a:extLst>
              <a:ext uri="{FF2B5EF4-FFF2-40B4-BE49-F238E27FC236}">
                <a16:creationId xmlns:a16="http://schemas.microsoft.com/office/drawing/2014/main" id="{0A30729B-0EA5-4DC2-AF86-7127873D37CF}"/>
              </a:ext>
            </a:extLst>
          </p:cNvPr>
          <p:cNvSpPr txBox="1"/>
          <p:nvPr/>
        </p:nvSpPr>
        <p:spPr>
          <a:xfrm>
            <a:off x="838200" y="4703872"/>
            <a:ext cx="10515600" cy="1477328"/>
          </a:xfrm>
          <a:prstGeom prst="rect">
            <a:avLst/>
          </a:prstGeom>
          <a:noFill/>
        </p:spPr>
        <p:txBody>
          <a:bodyPr wrap="square" rtlCol="0">
            <a:spAutoFit/>
          </a:bodyPr>
          <a:lstStyle/>
          <a:p>
            <a:pPr algn="just"/>
            <a:r>
              <a:rPr lang="en-IN" dirty="0"/>
              <a:t>The Block diagram shows how the various modules and sensors are connected to the Arduino module in the centre the method of communication from Arduino to the cloud is by a NodeMcu Wi-Fi Module called ESP8266 and the data is processed using an IOT app called Blynk which is used to process the obtained data from various modules and sensors, once done a threshold of values can be placed beyond which an innate alarm or notification is automatically triggered from the app</a:t>
            </a:r>
          </a:p>
        </p:txBody>
      </p:sp>
    </p:spTree>
    <p:extLst>
      <p:ext uri="{BB962C8B-B14F-4D97-AF65-F5344CB8AC3E}">
        <p14:creationId xmlns:p14="http://schemas.microsoft.com/office/powerpoint/2010/main" val="18148417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47B53-7638-4143-A1EB-58FD19EDF086}"/>
              </a:ext>
            </a:extLst>
          </p:cNvPr>
          <p:cNvSpPr>
            <a:spLocks noGrp="1"/>
          </p:cNvSpPr>
          <p:nvPr>
            <p:ph type="title"/>
          </p:nvPr>
        </p:nvSpPr>
        <p:spPr/>
        <p:txBody>
          <a:bodyPr/>
          <a:lstStyle/>
          <a:p>
            <a:r>
              <a:rPr lang="en-IN" dirty="0"/>
              <a:t>Originality and Innovation</a:t>
            </a:r>
          </a:p>
        </p:txBody>
      </p:sp>
      <p:sp>
        <p:nvSpPr>
          <p:cNvPr id="3" name="Content Placeholder 2">
            <a:extLst>
              <a:ext uri="{FF2B5EF4-FFF2-40B4-BE49-F238E27FC236}">
                <a16:creationId xmlns:a16="http://schemas.microsoft.com/office/drawing/2014/main" id="{7121718F-14B9-4A39-9E35-8A8CC579041D}"/>
              </a:ext>
            </a:extLst>
          </p:cNvPr>
          <p:cNvSpPr>
            <a:spLocks noGrp="1"/>
          </p:cNvSpPr>
          <p:nvPr>
            <p:ph idx="1"/>
          </p:nvPr>
        </p:nvSpPr>
        <p:spPr/>
        <p:txBody>
          <a:bodyPr/>
          <a:lstStyle/>
          <a:p>
            <a:pPr marL="457200" lvl="1" indent="0" algn="just">
              <a:buNone/>
            </a:pPr>
            <a:r>
              <a:rPr lang="en-IN" dirty="0"/>
              <a:t>As such concept such as the use of sensors exists , the innovation in this Project is the cost effectiveness and ease  of deployment of said sensors on an vast forest as such, Traditional methods is the use of perimeter based surveillance where a fence is to be places on the perimeter of the forest area that we wish to protect making a mesh  and using motion detection to detect activity through the fence as this very costly to implement and wildlife generally creates errors in sensor output as they are constantly in flux this system is faulty , Now By incorporation the new method of creating cheap disposable modules that can be nailed to a tree as such and provide reading of only the tree under test and collectively creating several nodes that are inclusive to inly the subject under test it can create a huge increase in accuracy and efficiency of detection of poaching of trees in restricted areas</a:t>
            </a:r>
          </a:p>
        </p:txBody>
      </p:sp>
    </p:spTree>
    <p:extLst>
      <p:ext uri="{BB962C8B-B14F-4D97-AF65-F5344CB8AC3E}">
        <p14:creationId xmlns:p14="http://schemas.microsoft.com/office/powerpoint/2010/main" val="6124624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01C69-F77C-4563-BBF7-B9365A361F78}"/>
              </a:ext>
            </a:extLst>
          </p:cNvPr>
          <p:cNvSpPr>
            <a:spLocks noGrp="1"/>
          </p:cNvSpPr>
          <p:nvPr>
            <p:ph type="title"/>
          </p:nvPr>
        </p:nvSpPr>
        <p:spPr/>
        <p:txBody>
          <a:bodyPr/>
          <a:lstStyle/>
          <a:p>
            <a:r>
              <a:rPr lang="en-IN" dirty="0"/>
              <a:t>Mathematical and Software Tools</a:t>
            </a:r>
          </a:p>
        </p:txBody>
      </p:sp>
      <p:sp>
        <p:nvSpPr>
          <p:cNvPr id="3" name="Content Placeholder 2">
            <a:extLst>
              <a:ext uri="{FF2B5EF4-FFF2-40B4-BE49-F238E27FC236}">
                <a16:creationId xmlns:a16="http://schemas.microsoft.com/office/drawing/2014/main" id="{8F78EFB9-A71D-4DF6-AD7F-0765B583A679}"/>
              </a:ext>
            </a:extLst>
          </p:cNvPr>
          <p:cNvSpPr>
            <a:spLocks noGrp="1"/>
          </p:cNvSpPr>
          <p:nvPr>
            <p:ph idx="1"/>
          </p:nvPr>
        </p:nvSpPr>
        <p:spPr/>
        <p:txBody>
          <a:bodyPr>
            <a:normAutofit lnSpcReduction="10000"/>
          </a:bodyPr>
          <a:lstStyle/>
          <a:p>
            <a:pPr algn="just"/>
            <a:r>
              <a:rPr lang="en-IN" dirty="0"/>
              <a:t>The software used for connection of nodemcu to android smartphone is Blynk app as it is used to collect the data and store it for future reference</a:t>
            </a:r>
          </a:p>
          <a:p>
            <a:pPr algn="just"/>
            <a:r>
              <a:rPr lang="en-IN" dirty="0"/>
              <a:t>Th app constantly awaits info for abnormalities in data that is being transmitted from the sensor once a value is above a certain threshold the app send a notification to the respective authorities</a:t>
            </a:r>
          </a:p>
          <a:p>
            <a:pPr algn="just"/>
            <a:r>
              <a:rPr lang="en-IN" dirty="0"/>
              <a:t>The Arduino is controlled by code written in Arduino C that just collects data from various sensors and transmitters to app using nodemcu as making the actual device light and easy to produce all computational work is done in the cloud servers instead of the devices at the area</a:t>
            </a:r>
          </a:p>
        </p:txBody>
      </p:sp>
    </p:spTree>
    <p:extLst>
      <p:ext uri="{BB962C8B-B14F-4D97-AF65-F5344CB8AC3E}">
        <p14:creationId xmlns:p14="http://schemas.microsoft.com/office/powerpoint/2010/main" val="14445725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327C3-E0E4-45A4-8CA2-06CAD746CEAC}"/>
              </a:ext>
            </a:extLst>
          </p:cNvPr>
          <p:cNvSpPr>
            <a:spLocks noGrp="1"/>
          </p:cNvSpPr>
          <p:nvPr>
            <p:ph type="title"/>
          </p:nvPr>
        </p:nvSpPr>
        <p:spPr/>
        <p:txBody>
          <a:bodyPr/>
          <a:lstStyle/>
          <a:p>
            <a:r>
              <a:rPr lang="en-IN" dirty="0"/>
              <a:t>Results</a:t>
            </a:r>
          </a:p>
        </p:txBody>
      </p:sp>
      <p:sp>
        <p:nvSpPr>
          <p:cNvPr id="3" name="Content Placeholder 2">
            <a:extLst>
              <a:ext uri="{FF2B5EF4-FFF2-40B4-BE49-F238E27FC236}">
                <a16:creationId xmlns:a16="http://schemas.microsoft.com/office/drawing/2014/main" id="{7BD88A1A-5FBB-4172-9A97-8ED9DFE6C58A}"/>
              </a:ext>
            </a:extLst>
          </p:cNvPr>
          <p:cNvSpPr>
            <a:spLocks noGrp="1"/>
          </p:cNvSpPr>
          <p:nvPr>
            <p:ph idx="1"/>
          </p:nvPr>
        </p:nvSpPr>
        <p:spPr/>
        <p:txBody>
          <a:bodyPr/>
          <a:lstStyle/>
          <a:p>
            <a:pPr algn="just"/>
            <a:r>
              <a:rPr lang="en-IN" dirty="0"/>
              <a:t>The results that are observed is that the tilt sensor is actually used to detect the fall of tree hence as the module is attached to the tree in test so if the sensor actually detects change in angle of tree in check it send a notification to the user as the tree has fallen down</a:t>
            </a:r>
          </a:p>
          <a:p>
            <a:pPr algn="just"/>
            <a:r>
              <a:rPr lang="en-IN" dirty="0"/>
              <a:t>The humidity and temperature sensor is used to gather environmental data the can be used to predict and detect forest fires before they actually happen</a:t>
            </a:r>
          </a:p>
          <a:p>
            <a:pPr algn="just"/>
            <a:r>
              <a:rPr lang="en-IN" dirty="0"/>
              <a:t>The sound sensor can be used to detect human voice or the sound of falling trees and notify the user depending upon accuracy of the data processed</a:t>
            </a:r>
          </a:p>
        </p:txBody>
      </p:sp>
    </p:spTree>
    <p:extLst>
      <p:ext uri="{BB962C8B-B14F-4D97-AF65-F5344CB8AC3E}">
        <p14:creationId xmlns:p14="http://schemas.microsoft.com/office/powerpoint/2010/main" val="36170433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32DCF-67C0-40AF-AB74-09CEC6F90AD4}"/>
              </a:ext>
            </a:extLst>
          </p:cNvPr>
          <p:cNvSpPr>
            <a:spLocks noGrp="1"/>
          </p:cNvSpPr>
          <p:nvPr>
            <p:ph type="title"/>
          </p:nvPr>
        </p:nvSpPr>
        <p:spPr/>
        <p:txBody>
          <a:bodyPr/>
          <a:lstStyle/>
          <a:p>
            <a:r>
              <a:rPr lang="en-IN" dirty="0"/>
              <a:t>Advantages</a:t>
            </a:r>
          </a:p>
        </p:txBody>
      </p:sp>
      <p:sp>
        <p:nvSpPr>
          <p:cNvPr id="3" name="Content Placeholder 2">
            <a:extLst>
              <a:ext uri="{FF2B5EF4-FFF2-40B4-BE49-F238E27FC236}">
                <a16:creationId xmlns:a16="http://schemas.microsoft.com/office/drawing/2014/main" id="{A94F2848-852A-4010-8A38-77EE95EB2778}"/>
              </a:ext>
            </a:extLst>
          </p:cNvPr>
          <p:cNvSpPr>
            <a:spLocks noGrp="1"/>
          </p:cNvSpPr>
          <p:nvPr>
            <p:ph idx="1"/>
          </p:nvPr>
        </p:nvSpPr>
        <p:spPr/>
        <p:txBody>
          <a:bodyPr/>
          <a:lstStyle/>
          <a:p>
            <a:pPr algn="just"/>
            <a:r>
              <a:rPr lang="en-IN" dirty="0"/>
              <a:t>The main advantage of this system is cheap construction and cost effective to deploy as each module cost a fraction to manufacture comparing to other existing system in place </a:t>
            </a:r>
          </a:p>
          <a:p>
            <a:pPr algn="just"/>
            <a:r>
              <a:rPr lang="en-IN" dirty="0"/>
              <a:t>All the sensors are enclosed inside a plastic or rubber enclosure and drilled to the tree using bolts hence which makes a sturdy and pretty touch construction that is capable of handling rainfall and scorched sun and all the elements that the forest may encounter</a:t>
            </a:r>
          </a:p>
          <a:p>
            <a:pPr algn="just"/>
            <a:r>
              <a:rPr lang="en-IN" dirty="0"/>
              <a:t>In the event of error of device this system enables replace of parts without compromising the entire architecture unlike fencing or other methods making modularity and scalability a key factor</a:t>
            </a:r>
          </a:p>
        </p:txBody>
      </p:sp>
    </p:spTree>
    <p:extLst>
      <p:ext uri="{BB962C8B-B14F-4D97-AF65-F5344CB8AC3E}">
        <p14:creationId xmlns:p14="http://schemas.microsoft.com/office/powerpoint/2010/main" val="3704690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5CF41-307B-47C6-BD30-0A4B765267B6}"/>
              </a:ext>
            </a:extLst>
          </p:cNvPr>
          <p:cNvSpPr>
            <a:spLocks noGrp="1"/>
          </p:cNvSpPr>
          <p:nvPr>
            <p:ph type="title"/>
          </p:nvPr>
        </p:nvSpPr>
        <p:spPr/>
        <p:txBody>
          <a:bodyPr/>
          <a:lstStyle/>
          <a:p>
            <a:r>
              <a:rPr lang="en-IN" dirty="0"/>
              <a:t>Applications</a:t>
            </a:r>
          </a:p>
        </p:txBody>
      </p:sp>
      <p:sp>
        <p:nvSpPr>
          <p:cNvPr id="3" name="Content Placeholder 2">
            <a:extLst>
              <a:ext uri="{FF2B5EF4-FFF2-40B4-BE49-F238E27FC236}">
                <a16:creationId xmlns:a16="http://schemas.microsoft.com/office/drawing/2014/main" id="{76E8C773-8B26-4C4B-B641-1E94C14F527C}"/>
              </a:ext>
            </a:extLst>
          </p:cNvPr>
          <p:cNvSpPr>
            <a:spLocks noGrp="1"/>
          </p:cNvSpPr>
          <p:nvPr>
            <p:ph idx="1"/>
          </p:nvPr>
        </p:nvSpPr>
        <p:spPr/>
        <p:txBody>
          <a:bodyPr/>
          <a:lstStyle/>
          <a:p>
            <a:pPr algn="just"/>
            <a:r>
              <a:rPr lang="en-IN" dirty="0"/>
              <a:t>The application of this device can be deployed over a vast area of forest land or other wildlife sanctuaries hence making scalability a important factor in this method</a:t>
            </a:r>
          </a:p>
          <a:p>
            <a:pPr algn="just"/>
            <a:r>
              <a:rPr lang="en-IN" dirty="0"/>
              <a:t>Also deployment over a single asset is also possible such as important plant assets in bio gardens as such</a:t>
            </a:r>
          </a:p>
          <a:p>
            <a:pPr algn="just"/>
            <a:r>
              <a:rPr lang="en-IN" dirty="0"/>
              <a:t>By deploying this method in a large enough area the event of forest can be detected before actually happening by plotting heat waves or temperature rise gradually over a geographic area under survey</a:t>
            </a:r>
          </a:p>
        </p:txBody>
      </p:sp>
    </p:spTree>
    <p:extLst>
      <p:ext uri="{BB962C8B-B14F-4D97-AF65-F5344CB8AC3E}">
        <p14:creationId xmlns:p14="http://schemas.microsoft.com/office/powerpoint/2010/main" val="32655224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9446B-598A-4BC7-8ED5-02957F12898D}"/>
              </a:ext>
            </a:extLst>
          </p:cNvPr>
          <p:cNvSpPr>
            <a:spLocks noGrp="1"/>
          </p:cNvSpPr>
          <p:nvPr>
            <p:ph type="title"/>
          </p:nvPr>
        </p:nvSpPr>
        <p:spPr/>
        <p:txBody>
          <a:bodyPr/>
          <a:lstStyle/>
          <a:p>
            <a:r>
              <a:rPr lang="en-IN" dirty="0"/>
              <a:t>Percentage of originality</a:t>
            </a:r>
          </a:p>
        </p:txBody>
      </p:sp>
      <p:sp>
        <p:nvSpPr>
          <p:cNvPr id="3" name="Content Placeholder 2">
            <a:extLst>
              <a:ext uri="{FF2B5EF4-FFF2-40B4-BE49-F238E27FC236}">
                <a16:creationId xmlns:a16="http://schemas.microsoft.com/office/drawing/2014/main" id="{6087A59B-CC3A-4857-B52F-F562DDFFD8CB}"/>
              </a:ext>
            </a:extLst>
          </p:cNvPr>
          <p:cNvSpPr>
            <a:spLocks noGrp="1"/>
          </p:cNvSpPr>
          <p:nvPr>
            <p:ph idx="1"/>
          </p:nvPr>
        </p:nvSpPr>
        <p:spPr/>
        <p:txBody>
          <a:bodyPr/>
          <a:lstStyle/>
          <a:p>
            <a:endParaRPr lang="en-IN" dirty="0"/>
          </a:p>
        </p:txBody>
      </p:sp>
    </p:spTree>
    <p:extLst>
      <p:ext uri="{BB962C8B-B14F-4D97-AF65-F5344CB8AC3E}">
        <p14:creationId xmlns:p14="http://schemas.microsoft.com/office/powerpoint/2010/main" val="3671345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CFB41-2CD1-4439-97C4-F6F566B0831E}"/>
              </a:ext>
            </a:extLst>
          </p:cNvPr>
          <p:cNvSpPr>
            <a:spLocks noGrp="1"/>
          </p:cNvSpPr>
          <p:nvPr>
            <p:ph type="title"/>
          </p:nvPr>
        </p:nvSpPr>
        <p:spPr/>
        <p:txBody>
          <a:bodyPr/>
          <a:lstStyle/>
          <a:p>
            <a:r>
              <a:rPr lang="en-IN" dirty="0"/>
              <a:t>Due to Lockdown Changes</a:t>
            </a:r>
          </a:p>
        </p:txBody>
      </p:sp>
      <p:sp>
        <p:nvSpPr>
          <p:cNvPr id="3" name="Content Placeholder 2">
            <a:extLst>
              <a:ext uri="{FF2B5EF4-FFF2-40B4-BE49-F238E27FC236}">
                <a16:creationId xmlns:a16="http://schemas.microsoft.com/office/drawing/2014/main" id="{0D724367-6E46-4283-99CE-F1BC52F4C2C4}"/>
              </a:ext>
            </a:extLst>
          </p:cNvPr>
          <p:cNvSpPr>
            <a:spLocks noGrp="1"/>
          </p:cNvSpPr>
          <p:nvPr>
            <p:ph idx="1"/>
          </p:nvPr>
        </p:nvSpPr>
        <p:spPr/>
        <p:txBody>
          <a:bodyPr/>
          <a:lstStyle/>
          <a:p>
            <a:endParaRPr lang="en-IN" dirty="0"/>
          </a:p>
        </p:txBody>
      </p:sp>
    </p:spTree>
    <p:extLst>
      <p:ext uri="{BB962C8B-B14F-4D97-AF65-F5344CB8AC3E}">
        <p14:creationId xmlns:p14="http://schemas.microsoft.com/office/powerpoint/2010/main" val="21842622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308E9-94E5-4157-9442-69B897584FBA}"/>
              </a:ext>
            </a:extLst>
          </p:cNvPr>
          <p:cNvSpPr>
            <a:spLocks noGrp="1"/>
          </p:cNvSpPr>
          <p:nvPr>
            <p:ph type="title"/>
          </p:nvPr>
        </p:nvSpPr>
        <p:spPr/>
        <p:txBody>
          <a:bodyPr/>
          <a:lstStyle/>
          <a:p>
            <a:r>
              <a:rPr lang="en-IN" dirty="0"/>
              <a:t>Contribution made by individuals</a:t>
            </a:r>
          </a:p>
        </p:txBody>
      </p:sp>
      <p:sp>
        <p:nvSpPr>
          <p:cNvPr id="3" name="Content Placeholder 2">
            <a:extLst>
              <a:ext uri="{FF2B5EF4-FFF2-40B4-BE49-F238E27FC236}">
                <a16:creationId xmlns:a16="http://schemas.microsoft.com/office/drawing/2014/main" id="{1CC1F395-C54B-4113-9EF0-575C30200958}"/>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0216179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D5971-7E3D-4AC7-A123-A8D4A2D3B93A}"/>
              </a:ext>
            </a:extLst>
          </p:cNvPr>
          <p:cNvSpPr>
            <a:spLocks noGrp="1"/>
          </p:cNvSpPr>
          <p:nvPr>
            <p:ph type="title"/>
          </p:nvPr>
        </p:nvSpPr>
        <p:spPr/>
        <p:txBody>
          <a:bodyPr/>
          <a:lstStyle/>
          <a:p>
            <a:r>
              <a:rPr lang="en-IN" dirty="0"/>
              <a:t>Conclusion and future scope</a:t>
            </a:r>
          </a:p>
        </p:txBody>
      </p:sp>
      <p:sp>
        <p:nvSpPr>
          <p:cNvPr id="3" name="Content Placeholder 2">
            <a:extLst>
              <a:ext uri="{FF2B5EF4-FFF2-40B4-BE49-F238E27FC236}">
                <a16:creationId xmlns:a16="http://schemas.microsoft.com/office/drawing/2014/main" id="{5E7431F7-3D3B-44F4-919C-4E8396B2FBD6}"/>
              </a:ext>
            </a:extLst>
          </p:cNvPr>
          <p:cNvSpPr>
            <a:spLocks noGrp="1"/>
          </p:cNvSpPr>
          <p:nvPr>
            <p:ph idx="1"/>
          </p:nvPr>
        </p:nvSpPr>
        <p:spPr/>
        <p:txBody>
          <a:bodyPr/>
          <a:lstStyle/>
          <a:p>
            <a:endParaRPr lang="en-IN" dirty="0"/>
          </a:p>
        </p:txBody>
      </p:sp>
    </p:spTree>
    <p:extLst>
      <p:ext uri="{BB962C8B-B14F-4D97-AF65-F5344CB8AC3E}">
        <p14:creationId xmlns:p14="http://schemas.microsoft.com/office/powerpoint/2010/main" val="5449378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90085C-E9D0-427B-801D-3B4B5412F2BB}"/>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Reference</a:t>
            </a:r>
          </a:p>
        </p:txBody>
      </p:sp>
      <p:sp>
        <p:nvSpPr>
          <p:cNvPr id="3" name="Content Placeholder 2">
            <a:extLst>
              <a:ext uri="{FF2B5EF4-FFF2-40B4-BE49-F238E27FC236}">
                <a16:creationId xmlns:a16="http://schemas.microsoft.com/office/drawing/2014/main" id="{70AAB706-B2B1-4729-8690-ED5A88E249D9}"/>
              </a:ext>
            </a:extLst>
          </p:cNvPr>
          <p:cNvSpPr>
            <a:spLocks noGrp="1"/>
          </p:cNvSpPr>
          <p:nvPr>
            <p:ph idx="1"/>
          </p:nvPr>
        </p:nvSpPr>
        <p:spPr/>
        <p:txBody>
          <a:bodyPr/>
          <a:lstStyle/>
          <a:p>
            <a:pPr algn="just"/>
            <a:r>
              <a:rPr lang="en-IN" dirty="0"/>
              <a:t>M.N.N.A Asghar., “Principle application of vision in internet of things", in communication technology (GCCT),2015 Global conference on May 2015</a:t>
            </a:r>
          </a:p>
          <a:p>
            <a:pPr algn="just"/>
            <a:r>
              <a:rPr lang="en-IN" dirty="0"/>
              <a:t>B.R Pavithra D “IOT based Monitoring and control system for home automation”, pp169-173, April 2015</a:t>
            </a:r>
          </a:p>
          <a:p>
            <a:pPr algn="just"/>
            <a:r>
              <a:rPr lang="en-IN" dirty="0"/>
              <a:t>T Ming Zhao , Chua ,”Automatic face gesture recognition , 2008 fg,08”,8</a:t>
            </a:r>
            <a:r>
              <a:rPr lang="en-IN" baseline="30000" dirty="0"/>
              <a:t>th</a:t>
            </a:r>
            <a:r>
              <a:rPr lang="en-IN" dirty="0"/>
              <a:t> IEEE international conference on ,pp1-6 September 2006</a:t>
            </a:r>
          </a:p>
          <a:p>
            <a:pPr algn="just"/>
            <a:r>
              <a:rPr lang="en-IN" dirty="0"/>
              <a:t>B.S.S Tharaniya Soundhari , M., “Intelligent Interface based speech recognition for home automation using android applications”, pp 1-11 March 2015</a:t>
            </a:r>
          </a:p>
        </p:txBody>
      </p:sp>
    </p:spTree>
    <p:extLst>
      <p:ext uri="{BB962C8B-B14F-4D97-AF65-F5344CB8AC3E}">
        <p14:creationId xmlns:p14="http://schemas.microsoft.com/office/powerpoint/2010/main" val="15663537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136</TotalTime>
  <Words>1132</Words>
  <Application>Microsoft Office PowerPoint</Application>
  <PresentationFormat>Widescreen</PresentationFormat>
  <Paragraphs>73</Paragraphs>
  <Slides>16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Times New Roman</vt:lpstr>
      <vt:lpstr>Office Theme</vt:lpstr>
      <vt:lpstr>IOT BASED ANTI-HUNT ALARM SYSTEM FOR TREES IN FOREST USING NODEMCU</vt:lpstr>
      <vt:lpstr>Overview of Contents</vt:lpstr>
      <vt:lpstr>Objective</vt:lpstr>
      <vt:lpstr>Abstract</vt:lpstr>
      <vt:lpstr>Literature Review</vt:lpstr>
      <vt:lpstr>Block Diagram </vt:lpstr>
      <vt:lpstr>Originality and Innovation</vt:lpstr>
      <vt:lpstr>Mathematical and Software Tools</vt:lpstr>
      <vt:lpstr>Results</vt:lpstr>
      <vt:lpstr>Advantages</vt:lpstr>
      <vt:lpstr>Applications</vt:lpstr>
      <vt:lpstr>Percentage of originality</vt:lpstr>
      <vt:lpstr>Due to Lockdown Changes</vt:lpstr>
      <vt:lpstr>Contribution made by individuals</vt:lpstr>
      <vt:lpstr>Conclusion and future scope</vt:lpstr>
      <vt:lpstr>Reference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IOT BASED ANTI-HUNT ALARM SYSTEM FOR TREES IN FOREST USING NODEMCU</dc:title>
  <dc:creator>Nithik</dc:creator>
  <cp:lastModifiedBy>Nithik</cp:lastModifiedBy>
  <cp:revision>16</cp:revision>
  <dcterms:created xsi:type="dcterms:W3CDTF">2020-05-29T01:20:20Z</dcterms:created>
  <dcterms:modified xsi:type="dcterms:W3CDTF">2020-05-29T05:14:34Z</dcterms:modified>
</cp:coreProperties>
</file>